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8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264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99" cy="6864626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2:05-d2nf7f98bjvh7rlj05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47" y="4532025"/>
            <a:ext cx="1732915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6835" y="2224670"/>
            <a:ext cx="8567166" cy="22743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رقص رمزآلود زنبورها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8-27-20:02:05-d2nf7f98bjvh7rlj05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800" y="4532025"/>
            <a:ext cx="1732915" cy="4572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48335" y="4560570"/>
            <a:ext cx="1597660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fa-IR" sz="2000" dirty="0">
                <a:solidFill>
                  <a:schemeClr val="bg1"/>
                </a:solidFill>
              </a:rPr>
              <a:t>متین شوقی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Text 2"/>
          <p:cNvSpPr/>
          <p:nvPr/>
        </p:nvSpPr>
        <p:spPr>
          <a:xfrm>
            <a:off x="2463165" y="4560570"/>
            <a:ext cx="1733550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fa-IR" sz="2000" dirty="0">
                <a:solidFill>
                  <a:schemeClr val="bg1"/>
                </a:solidFill>
              </a:rPr>
              <a:t>پایه نهم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Shape 3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4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2" name="Shape 7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3" name="Shape 8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9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3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2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7593" y="0"/>
            <a:ext cx="12203363" cy="687102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49027" y="6176992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1037028" y="6176992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125028" y="6072610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1213029" y="6176992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301029" y="6176992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 flipH="1">
            <a:off x="11601221" y="672670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1601221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flipH="1">
            <a:off x="11473046" y="672670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1473046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flipH="1">
            <a:off x="11342032" y="672670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1342032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 flipH="1">
            <a:off x="11211018" y="672670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1211018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6" name="Image 1" descr="https://kimi-img.moonshot.cn/pub/slides/slides_tmpl/image/25-08-27-20:02:05-d2nf7f98bjvh7rlj05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371" y="1406668"/>
            <a:ext cx="723900" cy="1181100"/>
          </a:xfrm>
          <a:prstGeom prst="rect">
            <a:avLst/>
          </a:prstGeom>
        </p:spPr>
      </p:pic>
      <p:pic>
        <p:nvPicPr>
          <p:cNvPr id="17" name="Image 2" descr="https://kimi-img.moonshot.cn/pub/slides/slides_tmpl/image/25-08-27-20:02:05-d2nf7f98bjvh7rlj05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371" y="2281312"/>
            <a:ext cx="723900" cy="1181100"/>
          </a:xfrm>
          <a:prstGeom prst="rect">
            <a:avLst/>
          </a:prstGeom>
        </p:spPr>
      </p:pic>
      <p:pic>
        <p:nvPicPr>
          <p:cNvPr id="18" name="Image 3" descr="https://kimi-img.moonshot.cn/pub/slides/slides_tmpl/image/25-08-27-20:02:05-d2nf7f98bjvh7rlj05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371" y="3169208"/>
            <a:ext cx="723900" cy="1181100"/>
          </a:xfrm>
          <a:prstGeom prst="rect">
            <a:avLst/>
          </a:prstGeom>
        </p:spPr>
      </p:pic>
      <p:pic>
        <p:nvPicPr>
          <p:cNvPr id="19" name="Image 4" descr="https://kimi-img.moonshot.cn/pub/slides/slides_tmpl/image/25-08-27-20:02:05-d2nf7f98bjvh7rlj05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371" y="4043852"/>
            <a:ext cx="723900" cy="1181100"/>
          </a:xfrm>
          <a:prstGeom prst="rect">
            <a:avLst/>
          </a:prstGeom>
        </p:spPr>
      </p:pic>
      <p:pic>
        <p:nvPicPr>
          <p:cNvPr id="20" name="Image 5" descr="https://kimi-img.moonshot.cn/pub/slides/slides_tmpl/image/25-08-27-20:02:05-d2nf7f98bjvh7rlj05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371" y="4926141"/>
            <a:ext cx="723900" cy="11811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27405" y="568325"/>
            <a:ext cx="3472180" cy="79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fa-IR" sz="1600" dirty="0"/>
              <a:t>مومو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4790075" y="1709633"/>
            <a:ext cx="904934" cy="731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sz="3600" b="1" kern="0" spc="31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6031149" y="1779473"/>
            <a:ext cx="4225547" cy="62532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0" spc="6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مقدمه‌ای بر زبان رقص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4790075" y="2571025"/>
            <a:ext cx="957943" cy="731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6031149" y="2640865"/>
            <a:ext cx="4225547" cy="62532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0" spc="6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ساختار حرکات رقص</a:t>
            </a:r>
            <a:endParaRPr lang="en-US" sz="1600" dirty="0"/>
          </a:p>
        </p:txBody>
      </p:sp>
      <p:sp>
        <p:nvSpPr>
          <p:cNvPr id="27" name="Text 18"/>
          <p:cNvSpPr/>
          <p:nvPr/>
        </p:nvSpPr>
        <p:spPr>
          <a:xfrm>
            <a:off x="4790075" y="3472173"/>
            <a:ext cx="957943" cy="731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6031149" y="3542013"/>
            <a:ext cx="4225547" cy="62532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0" spc="6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کدگذاری جهت و کیفیت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4790075" y="4320312"/>
            <a:ext cx="957943" cy="731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6031149" y="4390152"/>
            <a:ext cx="4225547" cy="62532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0" spc="6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نقش مخاطبان در کندو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4790075" y="5202601"/>
            <a:ext cx="957943" cy="731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23"/>
          <p:cNvSpPr/>
          <p:nvPr/>
        </p:nvSpPr>
        <p:spPr>
          <a:xfrm>
            <a:off x="6031149" y="5272441"/>
            <a:ext cx="4225547" cy="62532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0" spc="6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کاربردهای نوین و پایان</a:t>
            </a:r>
            <a:endParaRPr lang="en-US" sz="16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D04B463-3710-742A-A4B6-53C5F21B5194}"/>
              </a:ext>
            </a:extLst>
          </p:cNvPr>
          <p:cNvSpPr/>
          <p:nvPr/>
        </p:nvSpPr>
        <p:spPr>
          <a:xfrm>
            <a:off x="827405" y="218114"/>
            <a:ext cx="2771472" cy="10150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800" dirty="0"/>
              <a:t>موضوع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9359" y="3709831"/>
            <a:ext cx="383201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مقدمه‌ای بر زبان رقص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199" y="3446152"/>
            <a:ext cx="3657600" cy="127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800" dirty="0">
                <a:gradFill flip="none" rotWithShape="0">
                  <a:gsLst>
                    <a:gs pos="0">
                      <a:srgbClr val="FFFFFF">
                        <a:alpha val="61000"/>
                      </a:srgbClr>
                    </a:gs>
                    <a:gs pos="28000">
                      <a:srgbClr val="FFFFFF">
                        <a:alpha val="61000"/>
                      </a:srgbClr>
                    </a:gs>
                    <a:gs pos="78000">
                      <a:srgbClr val="FFFFFF"/>
                    </a:gs>
                    <a:gs pos="100000">
                      <a:srgbClr val="FFFF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ingFang SC Medium" pitchFamily="34" charset="0"/>
                <a:ea typeface="PingFang SC Medium" pitchFamily="34" charset="-122"/>
                <a:cs typeface="PingFang SC Medium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98525" y="2997835"/>
            <a:ext cx="3397885" cy="353314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98525" y="2997835"/>
            <a:ext cx="3397885" cy="35331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924640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0924640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052814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1052814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183828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183828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314843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1314843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 rot="13500000">
            <a:off x="927735" y="3230245"/>
            <a:ext cx="190500" cy="204470"/>
          </a:xfrm>
          <a:prstGeom prst="rtTriangle">
            <a:avLst/>
          </a:prstGeom>
          <a:gradFill flip="none" rotWithShape="1">
            <a:gsLst>
              <a:gs pos="0">
                <a:srgbClr val="004BA0"/>
              </a:gs>
              <a:gs pos="50000">
                <a:srgbClr val="1F5EC3"/>
              </a:gs>
              <a:gs pos="100000">
                <a:srgbClr val="4E96D8"/>
              </a:gs>
            </a:gsLst>
            <a:lin ang="5400000" scaled="1"/>
          </a:gra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 rot="13500000">
            <a:off x="927735" y="3230245"/>
            <a:ext cx="190500" cy="204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8203565" y="2997835"/>
            <a:ext cx="3220720" cy="353314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8203565" y="2997835"/>
            <a:ext cx="3220720" cy="35331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 rot="13500000">
            <a:off x="8204943" y="3242306"/>
            <a:ext cx="190478" cy="190478"/>
          </a:xfrm>
          <a:prstGeom prst="rtTriangle">
            <a:avLst/>
          </a:prstGeom>
          <a:gradFill flip="none" rotWithShape="1">
            <a:gsLst>
              <a:gs pos="0">
                <a:srgbClr val="004BA0"/>
              </a:gs>
              <a:gs pos="50000">
                <a:srgbClr val="1F5EC3"/>
              </a:gs>
              <a:gs pos="100000">
                <a:srgbClr val="4E96D8"/>
              </a:gs>
            </a:gsLst>
            <a:lin ang="5400000" scaled="1"/>
          </a:gra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 rot="13500000">
            <a:off x="8204943" y="3242306"/>
            <a:ext cx="190478" cy="19047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4595495" y="1845945"/>
            <a:ext cx="3145155" cy="352933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4595495" y="1845945"/>
            <a:ext cx="3145155" cy="35293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 rot="13500000">
            <a:off x="4629803" y="2071497"/>
            <a:ext cx="190478" cy="190478"/>
          </a:xfrm>
          <a:prstGeom prst="rtTriangle">
            <a:avLst/>
          </a:prstGeom>
          <a:gradFill flip="none" rotWithShape="1">
            <a:gsLst>
              <a:gs pos="0">
                <a:srgbClr val="004BA0"/>
              </a:gs>
              <a:gs pos="50000">
                <a:srgbClr val="1F5EC3"/>
              </a:gs>
              <a:gs pos="100000">
                <a:srgbClr val="4E96D8"/>
              </a:gs>
            </a:gsLst>
            <a:lin ang="5400000" scaled="1"/>
          </a:gra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 rot="13500000">
            <a:off x="4629803" y="2071497"/>
            <a:ext cx="190478" cy="19047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کشف نخستین زبان حیوانی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1222375" y="2474595"/>
            <a:ext cx="701040" cy="5257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Text 22"/>
          <p:cNvSpPr/>
          <p:nvPr/>
        </p:nvSpPr>
        <p:spPr>
          <a:xfrm>
            <a:off x="1222375" y="2474595"/>
            <a:ext cx="7010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1247140" y="3228340"/>
            <a:ext cx="2893060" cy="288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کشف کارل فون‌فریش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898525" y="3739515"/>
            <a:ext cx="3397885" cy="27622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کارل فون‌فریش در سال ۱۹۷۳ برای رمزگشایی حرکات زنبور کارگر، اولین سیستم ارتباط نمادین در حیوانات را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شناسایی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کرد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این کشف نشان داد که حتی حشرات نیز قادر به انتقال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اطلاعات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پیچیده‌اند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4892765" y="5402415"/>
            <a:ext cx="652471" cy="5258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892765" y="5402415"/>
            <a:ext cx="652471" cy="52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4938395" y="2058035"/>
            <a:ext cx="2687320" cy="537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ارتباط پیچیده‌ی زنبورها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4594860" y="2568575"/>
            <a:ext cx="3225800" cy="10284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زنبورهای عسل با استفاده از رقص‌های خاص، اطلاعاتی مانند جهت، فاصله و کیفیت منابع غذایی را به سایر اعضای کلونی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منتقل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می‌کنند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36" name="Shape 29"/>
          <p:cNvSpPr/>
          <p:nvPr/>
        </p:nvSpPr>
        <p:spPr>
          <a:xfrm>
            <a:off x="8576490" y="2474715"/>
            <a:ext cx="652471" cy="5258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7" name="Text 30"/>
          <p:cNvSpPr/>
          <p:nvPr/>
        </p:nvSpPr>
        <p:spPr>
          <a:xfrm>
            <a:off x="8576490" y="2474715"/>
            <a:ext cx="652471" cy="52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8575675" y="3228340"/>
            <a:ext cx="2726690" cy="288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اهمیت این کشف</a:t>
            </a:r>
            <a:endParaRPr lang="en-US" sz="1600" dirty="0"/>
          </a:p>
        </p:txBody>
      </p:sp>
      <p:sp>
        <p:nvSpPr>
          <p:cNvPr id="39" name="Text 32"/>
          <p:cNvSpPr/>
          <p:nvPr/>
        </p:nvSpPr>
        <p:spPr>
          <a:xfrm>
            <a:off x="8202295" y="3739515"/>
            <a:ext cx="3175635" cy="10284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این کشف نشان داد که زنبورهای عسل از یک سیستم ارتباطی پیشرفته برای هماهنگی فعالیت‌های جمعی‌شان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استفاده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می‌کنند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16708" y="1979810"/>
            <a:ext cx="6875424" cy="1909146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316708" y="1979810"/>
            <a:ext cx="6875424" cy="190914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 flipH="1">
            <a:off x="11451321" y="672670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11451321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flipH="1">
            <a:off x="11323146" y="672670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11323146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flipH="1">
            <a:off x="11192132" y="672670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>
            <a:off x="11192132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 flipH="1">
            <a:off x="11061118" y="672670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11061118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solidFill>
            <a:srgbClr val="517BDA"/>
          </a:soli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 rot="13500000">
            <a:off x="4389082" y="2283179"/>
            <a:ext cx="224914" cy="224914"/>
          </a:xfrm>
          <a:prstGeom prst="rtTriangle">
            <a:avLst/>
          </a:prstGeom>
          <a:gradFill flip="none" rotWithShape="1">
            <a:gsLst>
              <a:gs pos="0">
                <a:srgbClr val="004BA0"/>
              </a:gs>
              <a:gs pos="50000">
                <a:srgbClr val="1F5EC3"/>
              </a:gs>
              <a:gs pos="100000">
                <a:srgbClr val="4E96D8"/>
              </a:gs>
            </a:gsLst>
            <a:lin ang="5400000" scaled="1"/>
          </a:gra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 rot="13500000">
            <a:off x="4389082" y="2283179"/>
            <a:ext cx="224914" cy="224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980841" y="4045676"/>
            <a:ext cx="6875424" cy="1909146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980841" y="4045676"/>
            <a:ext cx="6875424" cy="190914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 rot="13500000">
            <a:off x="1053215" y="4349045"/>
            <a:ext cx="224914" cy="224914"/>
          </a:xfrm>
          <a:prstGeom prst="rtTriangle">
            <a:avLst/>
          </a:prstGeom>
          <a:gradFill flip="none" rotWithShape="1">
            <a:gsLst>
              <a:gs pos="0">
                <a:srgbClr val="004BA0"/>
              </a:gs>
              <a:gs pos="50000">
                <a:srgbClr val="1F5EC3"/>
              </a:gs>
              <a:gs pos="100000">
                <a:srgbClr val="4E96D8"/>
              </a:gs>
            </a:gsLst>
            <a:lin ang="5400000" scaled="1"/>
          </a:gra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 rot="13500000">
            <a:off x="1053215" y="4349045"/>
            <a:ext cx="224914" cy="224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3352616" y="3064564"/>
            <a:ext cx="1782539" cy="8873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3352616" y="3064564"/>
            <a:ext cx="1782539" cy="887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8224660" y="5124096"/>
            <a:ext cx="1782539" cy="887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8164596" y="3951923"/>
            <a:ext cx="1782539" cy="887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چرا رقص، ابزار ارتباط است؟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4753241" y="2254924"/>
            <a:ext cx="433116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نیاز به توزیع کارآمد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4419335" y="2644032"/>
            <a:ext cx="6678322" cy="70525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کلونی زنبور عسل نیاز به توزیع کارآمد نیروی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جست‌وجوگر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دارد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رقص یک راه دقیق و کارآمد برای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اطلاع‌رسانی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است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1406579" y="4320790"/>
            <a:ext cx="419463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کاهش صرف انرژی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1083468" y="4709898"/>
            <a:ext cx="6678322" cy="70525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رقص زنبورها به آن‌ها اجازه می‌دهد بدون صرف انرژی اضافی، اطلاعات دقیقی را به سایر اعضای کلونی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منتقل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کنند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9359" y="3709831"/>
            <a:ext cx="383201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ساختار حرکات رقص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199" y="3446152"/>
            <a:ext cx="3657600" cy="127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800" dirty="0">
                <a:gradFill flip="none" rotWithShape="0">
                  <a:gsLst>
                    <a:gs pos="0">
                      <a:srgbClr val="FFFFFF">
                        <a:alpha val="61000"/>
                      </a:srgbClr>
                    </a:gs>
                    <a:gs pos="28000">
                      <a:srgbClr val="FFFFFF">
                        <a:alpha val="61000"/>
                      </a:srgbClr>
                    </a:gs>
                    <a:gs pos="78000">
                      <a:srgbClr val="FFFFFF"/>
                    </a:gs>
                    <a:gs pos="100000">
                      <a:srgbClr val="FFFF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ingFang SC Medium" pitchFamily="34" charset="0"/>
                <a:ea typeface="PingFang SC Medium" pitchFamily="34" charset="-122"/>
                <a:cs typeface="PingFang SC Medium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41" y="0"/>
            <a:ext cx="12192000" cy="686462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1314843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1186668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11055654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0924640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solidFill>
            <a:srgbClr val="517BDA"/>
          </a:soli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2" descr="https://kimi-img.moonshot.cn/pub/slides/slides_tmpl/image/25-08-27-20:02:15-d2nf7hp8bjvh7rlj06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78" y="2109792"/>
            <a:ext cx="1219200" cy="1219200"/>
          </a:xfrm>
          <a:prstGeom prst="rect">
            <a:avLst/>
          </a:prstGeom>
        </p:spPr>
      </p:pic>
      <p:pic>
        <p:nvPicPr>
          <p:cNvPr id="15" name="Image 3" descr="https://kimi-img.moonshot.cn/pub/slides/slides_tmpl/image/25-08-27-20:02:15-d2nf7hp8bjvh7rlj06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290" y="2109792"/>
            <a:ext cx="1219200" cy="1219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7" name="Shape 11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8" name="Shape 12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9" name="Shape 13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0" name="Shape 14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5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رقص دایره‌ای برای منابع نزدیک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641831" y="2543535"/>
            <a:ext cx="665094" cy="29578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641831" y="2543535"/>
            <a:ext cx="665094" cy="295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52396" y="3216481"/>
            <a:ext cx="405351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رقص دایره‌ای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577383" y="3663293"/>
            <a:ext cx="3627449" cy="10284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در فاصله‌های کمتر از ۱۰۰ متر، زنبور دو نیم‌دایره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متقارن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می‌چرخد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این رقص فقط پیام «غذا در همین نزدیکی» را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منتقل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می‌کند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4738343" y="2543535"/>
            <a:ext cx="665094" cy="29578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4738343" y="2543535"/>
            <a:ext cx="665094" cy="295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712918" y="3216481"/>
            <a:ext cx="405610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جهت‌گیری تصادفی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4637905" y="3663293"/>
            <a:ext cx="3586780" cy="70525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جهت‌گیری در این رقص تصادفی است و اطلاعات دقیقی درباره‌ی جهت منبع غذایی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ارائه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نمی‌دهد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9" y="-1"/>
            <a:ext cx="12194137" cy="686582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11314843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kimi-img.moonshot.cn/pub/slides/slides_tmpl/image/25-08-27-20:02:16-d2nf7i18bjvh7rlj06j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77" y="1736336"/>
            <a:ext cx="10151467" cy="162214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1186668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11055654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2" descr="https://kimi-img.moonshot.cn/pub/slides/slides_tmpl/image/25-08-27-20:02:16-d2nf7i18bjvh7rlj06j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57" y="2472057"/>
            <a:ext cx="1219200" cy="1219200"/>
          </a:xfrm>
          <a:prstGeom prst="rect">
            <a:avLst/>
          </a:prstGeom>
        </p:spPr>
      </p:pic>
      <p:pic>
        <p:nvPicPr>
          <p:cNvPr id="11" name="Image 3" descr="https://kimi-img.moonshot.cn/pub/slides/slides_tmpl/image/25-08-27-20:02:16-d2nf7i18bjvh7rlj06j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23" y="1282634"/>
            <a:ext cx="1219200" cy="12192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" name="Text 7"/>
          <p:cNvSpPr/>
          <p:nvPr/>
        </p:nvSpPr>
        <p:spPr>
          <a:xfrm>
            <a:off x="10924640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4" descr="https://kimi-img.moonshot.cn/pub/slides/slides_tmpl/image/25-08-27-20:02:16-d2nf7i18bjvh7rlj06j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5303" y="1967581"/>
            <a:ext cx="1219200" cy="121920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solidFill>
            <a:srgbClr val="517BDA"/>
          </a:soli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16" name="Text 9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رقص قرقره‌ای و زاویه خورشید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988010" y="2887496"/>
            <a:ext cx="665094" cy="29578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Text 12"/>
          <p:cNvSpPr/>
          <p:nvPr/>
        </p:nvSpPr>
        <p:spPr>
          <a:xfrm>
            <a:off x="988010" y="2887496"/>
            <a:ext cx="665094" cy="295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980435" y="3709885"/>
            <a:ext cx="3145914" cy="288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رقص قرقره‌ای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900224" y="4069952"/>
            <a:ext cx="3360880" cy="10284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در مسافت‌های بیشتر، زنبور مسیر مستقیمی را با لرزش شکم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طی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می‌کند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این رقص برای اطلاع‌رسانی در مورد منابع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دورتر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است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4552356" y="2399512"/>
            <a:ext cx="665094" cy="29578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Text 16"/>
          <p:cNvSpPr/>
          <p:nvPr/>
        </p:nvSpPr>
        <p:spPr>
          <a:xfrm>
            <a:off x="4552356" y="2399512"/>
            <a:ext cx="665094" cy="295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4589908" y="3340917"/>
            <a:ext cx="3145915" cy="288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زاویه‌ی خورشید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4482425" y="3738964"/>
            <a:ext cx="3360880" cy="13515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زاویه‌ی خط رقص با جهت عمود کندو برابر زاویه‌ی منبع نسبت به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خورشید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است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این زاویه‌ی دقیق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به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زنبورها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ی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دیگر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کمک می‌کند که منبع غذایی را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پیدا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کنند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8012876" y="1697449"/>
            <a:ext cx="665094" cy="29578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Text 20"/>
          <p:cNvSpPr/>
          <p:nvPr/>
        </p:nvSpPr>
        <p:spPr>
          <a:xfrm>
            <a:off x="8012876" y="1697449"/>
            <a:ext cx="665094" cy="295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8215423" y="2586938"/>
            <a:ext cx="3177217" cy="288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انواع رقص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8105303" y="2994308"/>
            <a:ext cx="3360880" cy="70525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زنبورهای عسل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از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رقص‌های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مختلفی استفاده می‌کنند که هر کدام اطلاعات متفاوتی را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منتقل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می‌کنند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891530" y="2545080"/>
            <a:ext cx="5509260" cy="336677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5891530" y="2545080"/>
            <a:ext cx="5509260" cy="3366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91721" y="6176992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779722" y="6176992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867722" y="6072610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955723" y="6176992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1043723" y="6176992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" name="Shape 7"/>
          <p:cNvSpPr/>
          <p:nvPr/>
        </p:nvSpPr>
        <p:spPr>
          <a:xfrm flipH="1">
            <a:off x="11451321" y="672670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1451321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 flipH="1">
            <a:off x="11319983" y="673749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11319983" y="673749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 flipH="1">
            <a:off x="11192132" y="672670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11192132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 flipH="1">
            <a:off x="11061118" y="672670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11061118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solidFill>
            <a:srgbClr val="517BDA"/>
          </a:soli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 rot="13500000">
            <a:off x="6011545" y="2965450"/>
            <a:ext cx="301625" cy="274955"/>
          </a:xfrm>
          <a:prstGeom prst="rtTriangle">
            <a:avLst/>
          </a:prstGeom>
          <a:gradFill flip="none" rotWithShape="1">
            <a:gsLst>
              <a:gs pos="0">
                <a:srgbClr val="004BA0"/>
              </a:gs>
              <a:gs pos="50000">
                <a:srgbClr val="1F5EC3"/>
              </a:gs>
              <a:gs pos="100000">
                <a:srgbClr val="4E96D8"/>
              </a:gs>
            </a:gsLst>
            <a:lin ang="5400000" scaled="1"/>
          </a:gra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 rot="13500000">
            <a:off x="6011545" y="2965450"/>
            <a:ext cx="301625" cy="274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طول رقص معادل مسافت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520180" y="2898775"/>
            <a:ext cx="493141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مدت زمان رقص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055995" y="3145790"/>
            <a:ext cx="5267325" cy="2382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مدت زمان لرزش شکم زنبور، فاصله‌ی منبع غذایی را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نشان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می‌دهد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هر ثانیه از رقص، حدود یک کیلومتر فاصله‌ی منبع را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نشان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می‌دهد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9359" y="3709831"/>
            <a:ext cx="3832016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کدگذاری جهت و کیفیت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199" y="3446152"/>
            <a:ext cx="3657600" cy="127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800" dirty="0">
                <a:gradFill flip="none" rotWithShape="0">
                  <a:gsLst>
                    <a:gs pos="0">
                      <a:srgbClr val="FFFFFF">
                        <a:alpha val="61000"/>
                      </a:srgbClr>
                    </a:gs>
                    <a:gs pos="28000">
                      <a:srgbClr val="FFFFFF">
                        <a:alpha val="61000"/>
                      </a:srgbClr>
                    </a:gs>
                    <a:gs pos="78000">
                      <a:srgbClr val="FFFFFF"/>
                    </a:gs>
                    <a:gs pos="100000">
                      <a:srgbClr val="FFFF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ingFang SC Medium" pitchFamily="34" charset="0"/>
                <a:ea typeface="PingFang SC Medium" pitchFamily="34" charset="-122"/>
                <a:cs typeface="PingFang SC Medium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41" y="0"/>
            <a:ext cx="12192000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4263" y="479263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8" name="Image 1" descr="https://kimi-img.moonshot.cn/pub/slides/slides_tmpl/image/25-08-27-20:02:14-d2nf7hh8bjvh7rlj06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930" y="1690241"/>
            <a:ext cx="6896100" cy="2413000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8-27-20:02:14-d2nf7hh8bjvh7rlj06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8608" y="3905841"/>
            <a:ext cx="6896100" cy="2413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7"/>
          <p:cNvSpPr/>
          <p:nvPr/>
        </p:nvSpPr>
        <p:spPr>
          <a:xfrm>
            <a:off x="11314843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11186668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1"/>
          <p:cNvSpPr/>
          <p:nvPr/>
        </p:nvSpPr>
        <p:spPr>
          <a:xfrm>
            <a:off x="11055654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10924640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 rot="13500000">
            <a:off x="4011449" y="2163980"/>
            <a:ext cx="224914" cy="224914"/>
          </a:xfrm>
          <a:prstGeom prst="rtTriangle">
            <a:avLst/>
          </a:prstGeom>
          <a:gradFill flip="none" rotWithShape="1">
            <a:gsLst>
              <a:gs pos="0">
                <a:srgbClr val="004BA0"/>
              </a:gs>
              <a:gs pos="50000">
                <a:srgbClr val="1F5EC3"/>
              </a:gs>
              <a:gs pos="100000">
                <a:srgbClr val="4E96D8"/>
              </a:gs>
            </a:gsLst>
            <a:lin ang="5400000" scaled="1"/>
          </a:gra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 rot="13500000">
            <a:off x="4011449" y="2163980"/>
            <a:ext cx="224914" cy="224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 rot="13500000">
            <a:off x="5105057" y="4359683"/>
            <a:ext cx="224914" cy="224914"/>
          </a:xfrm>
          <a:prstGeom prst="rtTriangle">
            <a:avLst/>
          </a:prstGeom>
          <a:gradFill flip="none" rotWithShape="1">
            <a:gsLst>
              <a:gs pos="0">
                <a:srgbClr val="004BA0"/>
              </a:gs>
              <a:gs pos="50000">
                <a:srgbClr val="1F5EC3"/>
              </a:gs>
              <a:gs pos="100000">
                <a:srgbClr val="4E96D8"/>
              </a:gs>
            </a:gsLst>
            <a:lin ang="5400000" scaled="1"/>
          </a:gra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 rot="13500000">
            <a:off x="5105057" y="4359683"/>
            <a:ext cx="224914" cy="224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solidFill>
            <a:srgbClr val="517BDA"/>
          </a:soli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جهت‌یابی با قطب‌نمای خورشید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4363924" y="2135725"/>
            <a:ext cx="433116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تشخیص خورشید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4041702" y="2524833"/>
            <a:ext cx="6678322" cy="70525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زنبورها از چشم‌های مرکب خود برای تشخیص موقعیت خورشید حتی در ابرها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استفاده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می‌کنند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این توانایی به آن‌ها امکان جهت‌یابی دقیق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را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می‌دهد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5457532" y="4331428"/>
            <a:ext cx="433116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دقت بالا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5135310" y="4720536"/>
            <a:ext cx="6678322" cy="3820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زاویه‌ی رقص زنبورها با دقت بالا نشان داده می‌شود، بنابراین خطاها کمتر از پنج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درجه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می‌مانند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6-d2nf7i18bjvh7rlj06h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905" y="3530641"/>
            <a:ext cx="1219200" cy="11938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8" y="-1789"/>
            <a:ext cx="12195178" cy="686641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20:02:16-d2nf7i18bjvh7rlj06h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303" y="3335943"/>
            <a:ext cx="9345841" cy="1475659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1"/>
          <p:cNvSpPr/>
          <p:nvPr/>
        </p:nvSpPr>
        <p:spPr>
          <a:xfrm>
            <a:off x="11314843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8" name="Text 3"/>
          <p:cNvSpPr/>
          <p:nvPr/>
        </p:nvSpPr>
        <p:spPr>
          <a:xfrm>
            <a:off x="11186668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9" name="Image 3" descr="https://kimi-img.moonshot.cn/pub/slides/slides_tmpl/image/25-08-27-20:02:16-d2nf7i18bjvh7rlj06h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839" y="1771207"/>
            <a:ext cx="9345841" cy="1475659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08-27-20:02:16-d2nf7i18bjvh7rlj06h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033" y="4893837"/>
            <a:ext cx="9345841" cy="1475659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3071468" y="5410561"/>
            <a:ext cx="637958" cy="637956"/>
          </a:xfrm>
          <a:prstGeom prst="ellipse">
            <a:avLst/>
          </a:prstGeom>
          <a:gradFill flip="none" rotWithShape="1">
            <a:gsLst>
              <a:gs pos="0">
                <a:srgbClr val="30B0FE">
                  <a:alpha val="77000"/>
                </a:srgbClr>
              </a:gs>
              <a:gs pos="10000">
                <a:srgbClr val="30B0FE">
                  <a:alpha val="77000"/>
                </a:srgbClr>
              </a:gs>
              <a:gs pos="56000">
                <a:srgbClr val="5684E9"/>
              </a:gs>
              <a:gs pos="100000">
                <a:srgbClr val="014BB5"/>
              </a:gs>
            </a:gsLst>
            <a:lin ang="2700000" scaled="1"/>
          </a:gradFill>
          <a:ln/>
          <a:effectLst>
            <a:outerShdw blurRad="290837" dist="50607" dir="2700000" algn="bl" rotWithShape="0">
              <a:srgbClr val="5684E9">
                <a:alpha val="96078"/>
              </a:srgbClr>
            </a:outerShdw>
          </a:effectLst>
        </p:spPr>
      </p:sp>
      <p:sp>
        <p:nvSpPr>
          <p:cNvPr id="12" name="Text 5"/>
          <p:cNvSpPr/>
          <p:nvPr/>
        </p:nvSpPr>
        <p:spPr>
          <a:xfrm>
            <a:off x="3071468" y="5410561"/>
            <a:ext cx="637958" cy="6379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797767" y="2160937"/>
            <a:ext cx="637958" cy="637956"/>
          </a:xfrm>
          <a:prstGeom prst="ellipse">
            <a:avLst/>
          </a:prstGeom>
          <a:gradFill flip="none" rotWithShape="1">
            <a:gsLst>
              <a:gs pos="0">
                <a:srgbClr val="30B0FE">
                  <a:alpha val="77000"/>
                </a:srgbClr>
              </a:gs>
              <a:gs pos="10000">
                <a:srgbClr val="30B0FE">
                  <a:alpha val="77000"/>
                </a:srgbClr>
              </a:gs>
              <a:gs pos="56000">
                <a:srgbClr val="5684E9"/>
              </a:gs>
              <a:gs pos="100000">
                <a:srgbClr val="014BB5"/>
              </a:gs>
            </a:gsLst>
            <a:lin ang="2700000" scaled="1"/>
          </a:gradFill>
          <a:ln/>
          <a:effectLst>
            <a:outerShdw blurRad="290837" dist="50607" dir="2700000" algn="bl" rotWithShape="0">
              <a:srgbClr val="5684E9">
                <a:alpha val="96078"/>
              </a:srgbClr>
            </a:outerShdw>
          </a:effectLst>
        </p:spPr>
      </p:sp>
      <p:sp>
        <p:nvSpPr>
          <p:cNvPr id="14" name="Text 7"/>
          <p:cNvSpPr/>
          <p:nvPr/>
        </p:nvSpPr>
        <p:spPr>
          <a:xfrm>
            <a:off x="797767" y="2160937"/>
            <a:ext cx="637958" cy="6379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8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9"/>
          <p:cNvSpPr/>
          <p:nvPr/>
        </p:nvSpPr>
        <p:spPr>
          <a:xfrm>
            <a:off x="11055654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10924640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1738632" y="3754795"/>
            <a:ext cx="637958" cy="637956"/>
          </a:xfrm>
          <a:prstGeom prst="ellipse">
            <a:avLst/>
          </a:prstGeom>
          <a:gradFill flip="none" rotWithShape="1">
            <a:gsLst>
              <a:gs pos="0">
                <a:srgbClr val="30B0FE">
                  <a:alpha val="77000"/>
                </a:srgbClr>
              </a:gs>
              <a:gs pos="10000">
                <a:srgbClr val="30B0FE">
                  <a:alpha val="77000"/>
                </a:srgbClr>
              </a:gs>
              <a:gs pos="56000">
                <a:srgbClr val="5684E9"/>
              </a:gs>
              <a:gs pos="100000">
                <a:srgbClr val="014BB5"/>
              </a:gs>
            </a:gsLst>
            <a:lin ang="2700000" scaled="1"/>
          </a:gradFill>
          <a:ln/>
          <a:effectLst>
            <a:outerShdw blurRad="290837" dist="50607" dir="2700000" algn="bl" rotWithShape="0">
              <a:srgbClr val="5684E9">
                <a:alpha val="96078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1738632" y="3754795"/>
            <a:ext cx="637958" cy="6379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رایحه‌ای که کیفیت می‌گوید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784199" y="2334190"/>
            <a:ext cx="665094" cy="29578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Text 16"/>
          <p:cNvSpPr/>
          <p:nvPr/>
        </p:nvSpPr>
        <p:spPr>
          <a:xfrm>
            <a:off x="784199" y="2334190"/>
            <a:ext cx="665094" cy="295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1599543" y="1897632"/>
            <a:ext cx="526883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انتشار بو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1508259" y="2174549"/>
            <a:ext cx="7796220" cy="3820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در طول رقص، زنبور عطر منبع را روی شانه‌ها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پخش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می‌کند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این بو کیفیت منبع غذایی را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نشان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می‌دهد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1725064" y="3918275"/>
            <a:ext cx="665094" cy="29578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Text 20"/>
          <p:cNvSpPr/>
          <p:nvPr/>
        </p:nvSpPr>
        <p:spPr>
          <a:xfrm>
            <a:off x="1725064" y="3918275"/>
            <a:ext cx="665094" cy="295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2552033" y="3469994"/>
            <a:ext cx="48684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ارزیابی کیفیت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2460749" y="3746911"/>
            <a:ext cx="7796220" cy="3820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زنبورهای دیگر با استفاده از بو، کیفیت منبع غذایی را ارزیابی می‌کنند و تصمیم می‌گیرند که آیا باید به آن سو برود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یا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خیر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3057900" y="5570832"/>
            <a:ext cx="665094" cy="29578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3057900" y="5570832"/>
            <a:ext cx="665094" cy="295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3882681" y="5122551"/>
            <a:ext cx="45636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انواع بو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3791397" y="5399467"/>
            <a:ext cx="7720665" cy="3820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بوی منبع غذایی می‌تواند اطلاعاتی مانند نوع گیاهی که منبع است، را به زنبورهای دیگر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ارائه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9359" y="3709831"/>
            <a:ext cx="383201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نقش مخاطبان در کندو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199" y="3446152"/>
            <a:ext cx="3657600" cy="127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800" dirty="0">
                <a:gradFill flip="none" rotWithShape="0">
                  <a:gsLst>
                    <a:gs pos="0">
                      <a:srgbClr val="FFFFFF">
                        <a:alpha val="61000"/>
                      </a:srgbClr>
                    </a:gs>
                    <a:gs pos="28000">
                      <a:srgbClr val="FFFFFF">
                        <a:alpha val="61000"/>
                      </a:srgbClr>
                    </a:gs>
                    <a:gs pos="78000">
                      <a:srgbClr val="FFFFFF"/>
                    </a:gs>
                    <a:gs pos="100000">
                      <a:srgbClr val="FFFF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ingFang SC Medium" pitchFamily="34" charset="0"/>
                <a:ea typeface="PingFang SC Medium" pitchFamily="34" charset="-122"/>
                <a:cs typeface="PingFang SC Medium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41" y="0"/>
            <a:ext cx="12192000" cy="686462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34263" y="479263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kimi-img.moonshot.cn/pub/slides/slides_tmpl/image/25-08-27-20:02:14-d2nf7hh8bjvh7rlj06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71" y="3509350"/>
            <a:ext cx="825500" cy="8255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7"/>
          <p:cNvSpPr/>
          <p:nvPr/>
        </p:nvSpPr>
        <p:spPr>
          <a:xfrm>
            <a:off x="11314843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11186668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1"/>
          <p:cNvSpPr/>
          <p:nvPr/>
        </p:nvSpPr>
        <p:spPr>
          <a:xfrm>
            <a:off x="11055654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10924640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9" name="Image 3" descr="https://kimi-img.moonshot.cn/pub/slides/slides_tmpl/image/25-08-27-20:02:14-d2nf7hh8bjvh7rlj06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792" y="3509350"/>
            <a:ext cx="825500" cy="8255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solidFill>
            <a:srgbClr val="517BDA"/>
          </a:soli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fa-IR" sz="3600" b="1" kern="0" spc="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مخاطبان</a:t>
            </a:r>
            <a:r>
              <a:rPr lang="en-US" sz="3600" b="1" kern="0" spc="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چگونه پیام می‌گیرند؟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1010563" y="3753266"/>
            <a:ext cx="652471" cy="3286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1010563" y="3753266"/>
            <a:ext cx="652471" cy="32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1858043" y="3752661"/>
            <a:ext cx="342138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صف‌کشیدن زنبورها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771159" y="4082072"/>
            <a:ext cx="3875101" cy="70525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زنبوران جمع‌کننده در اطراف رقصنده صف می‌کشند و با شاخک‌ها حرکت و بو را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دریافت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می‌کنند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6352584" y="3753266"/>
            <a:ext cx="652471" cy="3286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Text 22"/>
          <p:cNvSpPr/>
          <p:nvPr/>
        </p:nvSpPr>
        <p:spPr>
          <a:xfrm>
            <a:off x="6352584" y="3753266"/>
            <a:ext cx="652471" cy="32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7200064" y="3752661"/>
            <a:ext cx="342138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یادگیری از رقص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7113180" y="4082072"/>
            <a:ext cx="3875101" cy="70525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پس از چند بار تماشا، زنبوران مسیر پرواز را به حافظه می‌سپارند و به سمت منبع غذایی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پرواز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می‌کنند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8" y="-1"/>
            <a:ext cx="12195178" cy="686641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2:17-d2nf7i98bjvh7rlj06k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43" y="1581381"/>
            <a:ext cx="11608234" cy="204439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1314843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1186668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11055654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0924640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2" name="Image 2" descr="https://kimi-img.moonshot.cn/pub/slides/slides_tmpl/image/25-08-27-20:02:17-d2nf7i98bjvh7rlj06l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299" y="3187946"/>
            <a:ext cx="11737700" cy="206221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solidFill>
            <a:srgbClr val="517BDA"/>
          </a:soli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5" name="Image 3" descr="https://kimi-img.moonshot.cn/pub/slides/slides_tmpl/image/25-08-27-20:02:17-d2nf7i98bjvh7rlj06k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43" y="4745205"/>
            <a:ext cx="11608234" cy="20443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رقابت یا همکاری </a:t>
            </a:r>
            <a:r>
              <a:rPr lang="en-US" sz="3600" b="1" kern="0" spc="3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در</a:t>
            </a:r>
            <a:r>
              <a:rPr lang="en-US" sz="3600" b="1" kern="0" spc="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3600" b="1" kern="0" spc="3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رقص</a:t>
            </a:r>
            <a:r>
              <a:rPr lang="fa-IR" sz="3600" b="1" kern="0" spc="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؟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908357" y="2269553"/>
            <a:ext cx="935244" cy="5915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Text 12"/>
          <p:cNvSpPr/>
          <p:nvPr/>
        </p:nvSpPr>
        <p:spPr>
          <a:xfrm>
            <a:off x="908357" y="2269553"/>
            <a:ext cx="935244" cy="591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2412629" y="1964286"/>
            <a:ext cx="526883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رقابت برای منبع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2321560" y="2254885"/>
            <a:ext cx="8153400" cy="3820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گاهی چند زنبور هم‌زمان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رقص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می‌کنند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جمع‌کنندگان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با مقایسه‌ی شدت بو و دقت جهت، منبع با ارزش‌تر را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انتخاب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می‌کنند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10419352" y="3889703"/>
            <a:ext cx="851694" cy="5915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10419352" y="3889703"/>
            <a:ext cx="851694" cy="591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653280" y="3537585"/>
            <a:ext cx="5268595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انتخاب منبع مناسب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2147779" y="3827956"/>
            <a:ext cx="7796220" cy="3820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زنبورهای جمع‌کننده با توجه به کیفیت منبع غذایی، تصمیم می‌گیرند که کدام منبع را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دنبال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کنند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919013" y="5440032"/>
            <a:ext cx="913931" cy="5915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919013" y="5440032"/>
            <a:ext cx="913931" cy="591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2412629" y="5109822"/>
            <a:ext cx="526883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نقش رقص در انتخاب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2321560" y="5400040"/>
            <a:ext cx="8154035" cy="3820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رقص زنبورها به زنبورهای دیگر کمک می‌کند که بهترین منبع غذایی را انتخاب کنند و از منابع کم‌ارزش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دور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بمانند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9359" y="3709831"/>
            <a:ext cx="383201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کاربردهای نوین و پایان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199" y="3446152"/>
            <a:ext cx="3657600" cy="127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800" dirty="0">
                <a:gradFill flip="none" rotWithShape="0">
                  <a:gsLst>
                    <a:gs pos="0">
                      <a:srgbClr val="FFFFFF">
                        <a:alpha val="61000"/>
                      </a:srgbClr>
                    </a:gs>
                    <a:gs pos="28000">
                      <a:srgbClr val="FFFFFF">
                        <a:alpha val="61000"/>
                      </a:srgbClr>
                    </a:gs>
                    <a:gs pos="78000">
                      <a:srgbClr val="FFFFFF"/>
                    </a:gs>
                    <a:gs pos="100000">
                      <a:srgbClr val="FFFF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ingFang SC Medium" pitchFamily="34" charset="0"/>
                <a:ea typeface="PingFang SC Medium" pitchFamily="34" charset="-122"/>
                <a:cs typeface="PingFang SC Medium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626"/>
            <a:ext cx="12192000" cy="6864626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20:02:12-d2nf7h18bjvh7rlj065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419" y="-395447"/>
            <a:ext cx="4796267" cy="830784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 flipH="1">
            <a:off x="11451321" y="672670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1"/>
          <p:cNvSpPr/>
          <p:nvPr/>
        </p:nvSpPr>
        <p:spPr>
          <a:xfrm>
            <a:off x="11451321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 flipH="1">
            <a:off x="11319983" y="673749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8" name="Text 3"/>
          <p:cNvSpPr/>
          <p:nvPr/>
        </p:nvSpPr>
        <p:spPr>
          <a:xfrm>
            <a:off x="11319983" y="673749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 flipH="1">
            <a:off x="11192132" y="672670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5"/>
          <p:cNvSpPr/>
          <p:nvPr/>
        </p:nvSpPr>
        <p:spPr>
          <a:xfrm>
            <a:off x="11192132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 flipH="1">
            <a:off x="11061118" y="672670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11061118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solidFill>
            <a:srgbClr val="517BDA"/>
          </a:soli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067706" y="921799"/>
            <a:ext cx="4221847" cy="13168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ربات زنبور و آزمون زبان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3782933" y="2778519"/>
            <a:ext cx="342138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آزمون با ربات‌ها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2105481" y="3568605"/>
            <a:ext cx="4273205" cy="70525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پژوهشگران با ربات‌هایی که رقص مصنوعی انجام می‌دهند، ثابت کردند که فقط زاویه و مدت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حرکت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کافی‌ست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10" y="0"/>
            <a:ext cx="12218079" cy="687931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20:02:15-d2nf7hp8bjvh7rlj06d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00759"/>
            <a:ext cx="15315171" cy="82982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1314843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6" name="Image 2" descr="https://kimi-img.moonshot.cn/pub/slides/slides_tmpl/image/25-08-27-20:02:15-d2nf7hp8bjvh7rlj06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4785" y="2432913"/>
            <a:ext cx="1193800" cy="11938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8" name="Text 3"/>
          <p:cNvSpPr/>
          <p:nvPr/>
        </p:nvSpPr>
        <p:spPr>
          <a:xfrm>
            <a:off x="11186668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5"/>
          <p:cNvSpPr/>
          <p:nvPr/>
        </p:nvSpPr>
        <p:spPr>
          <a:xfrm>
            <a:off x="11055654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10924640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3" name="Image 3" descr="https://kimi-img.moonshot.cn/pub/slides/slides_tmpl/image/25-08-27-20:02:15-d2nf7hp8bjvh7rlj06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13" y="1664817"/>
            <a:ext cx="1193800" cy="1193800"/>
          </a:xfrm>
          <a:prstGeom prst="rect">
            <a:avLst/>
          </a:prstGeom>
        </p:spPr>
      </p:pic>
      <p:pic>
        <p:nvPicPr>
          <p:cNvPr id="14" name="Image 4" descr="https://kimi-img.moonshot.cn/pub/slides/slides_tmpl/image/25-08-27-20:02:15-d2nf7hp8bjvh7rlj06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9985" y="2451201"/>
            <a:ext cx="1193800" cy="119380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solidFill>
            <a:srgbClr val="517BDA"/>
          </a:soli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16" name="Text 9"/>
          <p:cNvSpPr/>
          <p:nvPr/>
        </p:nvSpPr>
        <p:spPr>
          <a:xfrm>
            <a:off x="11358882" y="6059762"/>
            <a:ext cx="226534" cy="2204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الگویی برای هوش مصنوعی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2069138" y="2846751"/>
            <a:ext cx="665094" cy="29578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Text 12"/>
          <p:cNvSpPr/>
          <p:nvPr/>
        </p:nvSpPr>
        <p:spPr>
          <a:xfrm>
            <a:off x="2069138" y="2846751"/>
            <a:ext cx="665094" cy="295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906167" y="3573655"/>
            <a:ext cx="3338973" cy="288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الگوریتم زنبور عسل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824230" y="3974465"/>
            <a:ext cx="3338830" cy="70525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الگوریتم زنبور عسل در مسیریابی و مدیریت منابع، پایه‌ی روش‌های ابتکاری در شبکه‌های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حسگر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است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5824743" y="2081751"/>
            <a:ext cx="665094" cy="29578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Text 16"/>
          <p:cNvSpPr/>
          <p:nvPr/>
        </p:nvSpPr>
        <p:spPr>
          <a:xfrm>
            <a:off x="5824743" y="2081751"/>
            <a:ext cx="665094" cy="295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4582055" y="2823847"/>
            <a:ext cx="3338973" cy="288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کاربردهای گسترده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4500245" y="3225165"/>
            <a:ext cx="3338830" cy="70525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این الگوریتم‌ها در مسیریابی خودروهای خودران و توزیع بار نیز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کاربرد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دارند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9372615" y="2869908"/>
            <a:ext cx="665094" cy="29578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Text 20"/>
          <p:cNvSpPr/>
          <p:nvPr/>
        </p:nvSpPr>
        <p:spPr>
          <a:xfrm>
            <a:off x="9372615" y="2869908"/>
            <a:ext cx="665094" cy="295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8129927" y="3555367"/>
            <a:ext cx="3338973" cy="288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الگوریتم‌های بهینه‌سازی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8047990" y="3956685"/>
            <a:ext cx="3353435" cy="10284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الگوریتم‌های الهام‌گرفته از کلونی زنبور عسل، راه‌حل‌های بهینه‌سازی برای مسائل پیچیده‌ی علمی و مهندسی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ارائه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می‌دهند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136708" y="4206069"/>
            <a:ext cx="5236592" cy="1909146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5" name="Text 1"/>
          <p:cNvSpPr/>
          <p:nvPr/>
        </p:nvSpPr>
        <p:spPr>
          <a:xfrm>
            <a:off x="6136708" y="4206069"/>
            <a:ext cx="5236592" cy="190914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3077049" y="2077083"/>
            <a:ext cx="5236592" cy="1909146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6136708" y="2006879"/>
            <a:ext cx="5236592" cy="190914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34263" y="479263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pic>
        <p:nvPicPr>
          <p:cNvPr id="9" name="Image 2" descr="https://kimi-img.moonshot.cn/pub/slides/slides_tmpl/image/25-08-27-20:02:13-d2nf7h98bjvh7rlj068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034" y="1800776"/>
            <a:ext cx="1219200" cy="11938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2" name="Shape 7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3" name="Shape 8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4" name="Shape 9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5" name="Shape 1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1"/>
          <p:cNvSpPr/>
          <p:nvPr/>
        </p:nvSpPr>
        <p:spPr>
          <a:xfrm>
            <a:off x="11314843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7" name="Image 3" descr="https://kimi-img.moonshot.cn/pub/slides/slides_tmpl/image/25-08-27-20:02:13-d2nf7h98bjvh7rlj068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483" y="3971966"/>
            <a:ext cx="1219200" cy="11938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11186668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5"/>
          <p:cNvSpPr/>
          <p:nvPr/>
        </p:nvSpPr>
        <p:spPr>
          <a:xfrm>
            <a:off x="11055654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10924640" y="981848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 rot="13500000">
            <a:off x="3234738" y="2227680"/>
            <a:ext cx="224914" cy="224914"/>
          </a:xfrm>
          <a:prstGeom prst="rtTriangle">
            <a:avLst/>
          </a:prstGeom>
          <a:solidFill>
            <a:srgbClr val="517BDA"/>
          </a:soli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Text 19"/>
          <p:cNvSpPr/>
          <p:nvPr/>
        </p:nvSpPr>
        <p:spPr>
          <a:xfrm rot="13500000">
            <a:off x="6265096" y="2177027"/>
            <a:ext cx="224914" cy="224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 rot="13500000">
            <a:off x="6265096" y="4376217"/>
            <a:ext cx="224914" cy="224914"/>
          </a:xfrm>
          <a:prstGeom prst="rtTriangle">
            <a:avLst/>
          </a:prstGeom>
          <a:solidFill>
            <a:srgbClr val="517BDA"/>
          </a:solidFill>
          <a:ln/>
          <a:effectLst>
            <a:outerShdw blurRad="145102" dist="50800" dir="2700000" algn="bl" rotWithShape="0">
              <a:srgbClr val="517BDA">
                <a:alpha val="76471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 rot="13500000">
            <a:off x="6265096" y="4376217"/>
            <a:ext cx="224914" cy="224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542215" y="998076"/>
            <a:ext cx="8152877" cy="83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رقصی که جهان را تغییر داد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3831285" y="2130445"/>
            <a:ext cx="652471" cy="4601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1" name="Text 24"/>
          <p:cNvSpPr/>
          <p:nvPr/>
        </p:nvSpPr>
        <p:spPr>
          <a:xfrm>
            <a:off x="2659466" y="2115710"/>
            <a:ext cx="474335" cy="46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3801236" y="2199438"/>
            <a:ext cx="3788217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تأثیر کشف فون‌فریش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3431146" y="2869894"/>
            <a:ext cx="5084324" cy="70525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کشف کارل فون‌فریش در زمینه‌ی رقص زنبورها، ایده‌های نوینی را در زمینه‌ی هوش مصنوعی و الگوریتم‌های بهینه‌سازی الهام‌گرفته از طبیعت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ایجاد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کرد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5481848" y="4313489"/>
            <a:ext cx="652471" cy="4601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5481848" y="4313489"/>
            <a:ext cx="652471" cy="46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6619442" y="4352136"/>
            <a:ext cx="3788216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10" dirty="0">
                <a:gradFill flip="none" rotWithShape="0">
                  <a:gsLst>
                    <a:gs pos="0">
                      <a:srgbClr val="30B0FE">
                        <a:alpha val="77000"/>
                      </a:srgbClr>
                    </a:gs>
                    <a:gs pos="10000">
                      <a:srgbClr val="30B0FE">
                        <a:alpha val="77000"/>
                      </a:srgbClr>
                    </a:gs>
                    <a:gs pos="70000">
                      <a:srgbClr val="5684E9"/>
                    </a:gs>
                    <a:gs pos="100000">
                      <a:srgbClr val="014BB5"/>
                    </a:gs>
                  </a:gsLst>
                  <a:lin ang="480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کاربردهای امروزی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6240852" y="4645750"/>
            <a:ext cx="5084322" cy="70525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امروزه، این دانش در حوزه‌های مختلفی مانند هوش مصنوعی، مهندسی و حتی حفاظت از زیست‌محیطی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کاربرد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دارد</a:t>
            </a:r>
            <a:r>
              <a:rPr lang="fa-IR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814</Words>
  <Application>Microsoft Office PowerPoint</Application>
  <PresentationFormat>Widescreen</PresentationFormat>
  <Paragraphs>136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MiSans</vt:lpstr>
      <vt:lpstr>PingFang SC Medium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رقص رمزآلود زنبورها</dc:title>
  <dc:subject>رقص رمزآلود زنبورها</dc:subject>
  <dc:creator>Kimi</dc:creator>
  <cp:lastModifiedBy>Matin 481</cp:lastModifiedBy>
  <cp:revision>3</cp:revision>
  <dcterms:created xsi:type="dcterms:W3CDTF">2025-09-27T19:43:58Z</dcterms:created>
  <dcterms:modified xsi:type="dcterms:W3CDTF">2025-09-27T22:14:45Z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{"Label":"رقص رمزآلود زنبورها","ContentProducer":"001191110108MACG2KBH8F10000","ProduceID":"d3c3s20l3dcf1hrjh0u0","ReservedCode1":"","ContentPropagator":"001191110108MACG2KBH8F20000","PropagateID":"d3c3s20l3dcf1hrjh0u0","ReservedCode2":""}</vt:lpwstr>
  </property>
</Properties>
</file>